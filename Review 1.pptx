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75" r:id="rId5"/>
    <p:sldId id="262" r:id="rId6"/>
    <p:sldId id="277" r:id="rId7"/>
    <p:sldId id="263" r:id="rId8"/>
    <p:sldId id="270" r:id="rId9"/>
    <p:sldId id="271" r:id="rId10"/>
    <p:sldId id="278" r:id="rId11"/>
    <p:sldId id="273" r:id="rId12"/>
    <p:sldId id="267" r:id="rId13"/>
    <p:sldId id="268" r:id="rId14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9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72"/>
      </p:cViewPr>
      <p:guideLst>
        <p:guide orient="horz" pos="293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7718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914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85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7496516" y="3904695"/>
            <a:ext cx="4642337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Mentor</a:t>
            </a:r>
          </a:p>
          <a:p>
            <a:pPr algn="ctr"/>
            <a:r>
              <a:rPr lang="en-IN" sz="2400" dirty="0">
                <a:latin typeface="Times New Roman"/>
              </a:rPr>
              <a:t>Mr. V. Manimaran</a:t>
            </a:r>
          </a:p>
          <a:p>
            <a:pPr algn="ctr"/>
            <a:r>
              <a:rPr lang="en-IN" sz="2400" dirty="0">
                <a:latin typeface="Times New Roman"/>
              </a:rPr>
              <a:t>Assistant professor</a:t>
            </a:r>
          </a:p>
          <a:p>
            <a:pPr algn="ctr"/>
            <a:r>
              <a:rPr lang="en-IN" sz="2400" dirty="0">
                <a:latin typeface="Times New Roman"/>
                <a:cs typeface="Times New Roman"/>
              </a:rPr>
              <a:t> Department of CSE</a:t>
            </a:r>
          </a:p>
        </p:txBody>
      </p:sp>
      <p:sp>
        <p:nvSpPr>
          <p:cNvPr id="49" name="Google Shape;49;p1"/>
          <p:cNvSpPr txBox="1"/>
          <p:nvPr/>
        </p:nvSpPr>
        <p:spPr>
          <a:xfrm>
            <a:off x="2374315" y="3904695"/>
            <a:ext cx="3892504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cs typeface="Times New Roman"/>
              </a:rPr>
              <a:t>Team Members: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4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/>
              </a:rPr>
              <a:t>23CSR048 – </a:t>
            </a:r>
            <a:r>
              <a:rPr lang="en-IN" sz="2400" dirty="0" err="1">
                <a:solidFill>
                  <a:schemeClr val="tx1"/>
                </a:solidFill>
                <a:latin typeface="Times New Roman"/>
              </a:rPr>
              <a:t>Dharssene</a:t>
            </a:r>
            <a:r>
              <a:rPr lang="en-IN" sz="2400" dirty="0">
                <a:solidFill>
                  <a:schemeClr val="tx1"/>
                </a:solidFill>
                <a:latin typeface="Times New Roman"/>
              </a:rPr>
              <a:t> K B 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/>
              </a:rPr>
              <a:t>23CSR057 – Divya </a:t>
            </a:r>
            <a:r>
              <a:rPr lang="en-IN" sz="2400" dirty="0" err="1">
                <a:solidFill>
                  <a:schemeClr val="tx1"/>
                </a:solidFill>
                <a:latin typeface="Times New Roman"/>
              </a:rPr>
              <a:t>sree</a:t>
            </a:r>
            <a:r>
              <a:rPr lang="en-IN" sz="2400" dirty="0">
                <a:solidFill>
                  <a:schemeClr val="tx1"/>
                </a:solidFill>
                <a:latin typeface="Times New Roman"/>
              </a:rPr>
              <a:t> N</a:t>
            </a:r>
            <a:endParaRPr lang="en-US" sz="24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2700">
              <a:buSzPts val="1800"/>
            </a:pPr>
            <a:r>
              <a:rPr lang="en-IN" sz="2400" dirty="0">
                <a:solidFill>
                  <a:schemeClr val="tx1"/>
                </a:solidFill>
                <a:latin typeface="Times New Roman"/>
              </a:rPr>
              <a:t>23CSL252 – Arun K S</a:t>
            </a:r>
            <a:endParaRPr lang="en-US" sz="2400" i="0" u="none" strike="noStrike" cap="none" dirty="0">
              <a:solidFill>
                <a:schemeClr val="dk1"/>
              </a:solidFill>
              <a:latin typeface="Times New Roman"/>
              <a:cs typeface="Times New Roman"/>
              <a:sym typeface="Arial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2698852" y="1287270"/>
            <a:ext cx="9298879" cy="113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Public Speaking Analysis and Feedback System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A8F8C-D134-80A5-D8F4-A178D447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" y="1104807"/>
            <a:ext cx="2801839" cy="13982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872BA5-52D4-7E4C-48E2-B6FBAF0DDB8E}"/>
              </a:ext>
            </a:extLst>
          </p:cNvPr>
          <p:cNvSpPr txBox="1"/>
          <p:nvPr/>
        </p:nvSpPr>
        <p:spPr>
          <a:xfrm>
            <a:off x="4218039" y="344129"/>
            <a:ext cx="52700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g2588bb4af59_0_6">
            <a:extLst>
              <a:ext uri="{FF2B5EF4-FFF2-40B4-BE49-F238E27FC236}">
                <a16:creationId xmlns:a16="http://schemas.microsoft.com/office/drawing/2014/main" id="{71C0581B-B12A-171C-64A8-47F36DF5F67A}"/>
              </a:ext>
            </a:extLst>
          </p:cNvPr>
          <p:cNvSpPr txBox="1">
            <a:spLocks/>
          </p:cNvSpPr>
          <p:nvPr/>
        </p:nvSpPr>
        <p:spPr>
          <a:xfrm>
            <a:off x="0" y="948459"/>
            <a:ext cx="6007009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618E4-B710-75E7-A523-1CECAF46E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802" y="1600669"/>
            <a:ext cx="1076184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speaking is a critical skill, but consistent expert feedback is hard to access.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issues speakers face include: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rule-based feedback cannot explain why a mistake affects communication.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 combining explainable rule-based detection with AI-generated corrective feedback is required.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4FD0D-C304-3B3B-051F-0827E21D3888}"/>
              </a:ext>
            </a:extLst>
          </p:cNvPr>
          <p:cNvSpPr txBox="1"/>
          <p:nvPr/>
        </p:nvSpPr>
        <p:spPr>
          <a:xfrm>
            <a:off x="2270018" y="2574990"/>
            <a:ext cx="46282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Excessive filler words (“um”, “uh”)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Long, unintentional pauses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eye contact and posture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Speaking too fast or too slowly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0395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C8B2-E335-7962-17C6-02A184AF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E368-F371-8BA2-8170-0B06BDFC0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46445" y="965773"/>
            <a:ext cx="10363200" cy="492443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E8725-EC16-6507-CC8B-AD58D95B1433}"/>
              </a:ext>
            </a:extLst>
          </p:cNvPr>
          <p:cNvSpPr txBox="1"/>
          <p:nvPr/>
        </p:nvSpPr>
        <p:spPr>
          <a:xfrm>
            <a:off x="1337187" y="1877101"/>
            <a:ext cx="102845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specific communication mistakes with exact timestamps.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each mistake affects communication.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AI-based fluent rewrites of affected speech segments.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eye contact, posture, hand gestures, and facial expression.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 Confidence classifier from labeled data.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core performance scores across speech and visual modalities.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a user's progress across multiple practice sessions.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020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0227-6874-64A3-D9A8-78ECD005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B681-4EA3-839C-D01D-2C9479472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88" y="457198"/>
            <a:ext cx="10363200" cy="553998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B192ED-42EF-7863-3EBF-C488CB22D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87641"/>
              </p:ext>
            </p:extLst>
          </p:nvPr>
        </p:nvGraphicFramePr>
        <p:xfrm>
          <a:off x="912612" y="1250846"/>
          <a:ext cx="11218509" cy="5264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9168">
                  <a:extLst>
                    <a:ext uri="{9D8B030D-6E8A-4147-A177-3AD203B41FA5}">
                      <a16:colId xmlns:a16="http://schemas.microsoft.com/office/drawing/2014/main" val="272230880"/>
                    </a:ext>
                  </a:extLst>
                </a:gridCol>
                <a:gridCol w="2064775">
                  <a:extLst>
                    <a:ext uri="{9D8B030D-6E8A-4147-A177-3AD203B41FA5}">
                      <a16:colId xmlns:a16="http://schemas.microsoft.com/office/drawing/2014/main" val="2470537038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2242205279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2574955280"/>
                    </a:ext>
                  </a:extLst>
                </a:gridCol>
                <a:gridCol w="1632155">
                  <a:extLst>
                    <a:ext uri="{9D8B030D-6E8A-4147-A177-3AD203B41FA5}">
                      <a16:colId xmlns:a16="http://schemas.microsoft.com/office/drawing/2014/main" val="3115075573"/>
                    </a:ext>
                  </a:extLst>
                </a:gridCol>
                <a:gridCol w="2035277">
                  <a:extLst>
                    <a:ext uri="{9D8B030D-6E8A-4147-A177-3AD203B41FA5}">
                      <a16:colId xmlns:a16="http://schemas.microsoft.com/office/drawing/2014/main" val="3426932433"/>
                    </a:ext>
                  </a:extLst>
                </a:gridCol>
                <a:gridCol w="2369573">
                  <a:extLst>
                    <a:ext uri="{9D8B030D-6E8A-4147-A177-3AD203B41FA5}">
                      <a16:colId xmlns:a16="http://schemas.microsoft.com/office/drawing/2014/main" val="1689033359"/>
                    </a:ext>
                  </a:extLst>
                </a:gridCol>
              </a:tblGrid>
              <a:tr h="511816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Future Enhancement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2368919"/>
                  </a:ext>
                </a:extLst>
              </a:tr>
              <a:tr h="1282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Insights on the Distribution of Nonverbal and Verbal Oral Presentation Skills in an Educational Institution (RAP System) (2024)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F. Domínguez, L. Eras, A. Collaguazo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BlazePose landmarks + Feedforward DNN (posture) + kNN (gaze) + Praat (filled pauses &amp; volume)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92.5–95% (posture DNN), 99.7% (gaze kNN)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a manually tagged dataset of 180,000+ video frames to train the posture classifier; needs per-room sonometer calibration for volume scoring.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 calibration across environments; expand deployment to additional institutions and study programs.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43492550"/>
                  </a:ext>
                </a:extLst>
              </a:tr>
              <a:tr h="16097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OpenOPAF: An Open-Source Multimodal System for Automated Feedback for Oral Presentations (2024)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X. Ochoa, H. Zhao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MediaPipe holistic landmarks + geometric rule-based posture/gaze classifiers + Praat (Parselmouth)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69–97% agreement with human coders across modalities (e.g. Gaze 83%, Voice Volume 93%)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 evaluation sample (12 participants); requires a dedicated hardware kit (NVIDIA Jetson Nano + camera + mic).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Deployment in ecologically valid, larger-scale educational settings; support for additional modalities.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0338726"/>
                  </a:ext>
                </a:extLst>
              </a:tr>
              <a:tr h="17926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Multi-Class Confidence Detection Using Deep Learning Approach (2023)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A. Mujahid, et al.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(GoogLeNet) + LSTM on hand-gesture image frames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90.48%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Confidence-only (no stress dimension); dataset scale and generalization to real classroom settings not fully established.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Extend to multimodal fusion (voice + face + gesture); validate on larger, real-world presentation datasets.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87003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18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E557-E274-FC49-4CA2-6CDD093C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3C80-CB88-2483-BD10-403BBD4D5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66109" y="804756"/>
            <a:ext cx="103632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Problems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CAC92-EF02-38E6-9BA8-EC902BB89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847" y="1859605"/>
            <a:ext cx="9763432" cy="3467616"/>
          </a:xfrm>
        </p:spPr>
        <p:txBody>
          <a:bodyPr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abstract traits (confidence, engagement) rather than concrete, correctable mistakes.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systems depend on specialized hardware or require large manually labeled datasets.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is often semi-automated or lacks an explanation of why a mistake occurred.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system unifies mistake detection, explanation, sentence rewriting, and confidence estimation in one lightweight pipeline.</a:t>
            </a:r>
            <a:r>
              <a:rPr lang="en-IN" sz="24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9F631-58C9-B3D0-3425-92395B325D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34279" y="6514910"/>
            <a:ext cx="245109" cy="321306"/>
          </a:xfrm>
        </p:spPr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4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D415-0A5F-C0CA-8971-E5D76466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EA3A-DA50-8630-E168-1B1DBCAF5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66109" y="804756"/>
            <a:ext cx="103632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EDFCD-122A-3539-D7C1-3B0B53918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847" y="1859605"/>
            <a:ext cx="9763432" cy="184665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lightweight system that detects specific public speaking mistakes with exact timestamps, explains their impact, generates AI-corrected sentences, and estimates speaker confidence from a properly trained, explainable model — using only pretrained models and one purpose-trained classifier, with no specialized hardware required.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215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030E-AE4B-4E06-A55B-3F7A7756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9D89-F263-6E34-2E57-8162397A8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17180" y="946108"/>
            <a:ext cx="10363200" cy="492443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E84B2-38AC-46E8-893E-FBB00ACDA480}"/>
              </a:ext>
            </a:extLst>
          </p:cNvPr>
          <p:cNvSpPr txBox="1"/>
          <p:nvPr/>
        </p:nvSpPr>
        <p:spPr>
          <a:xfrm>
            <a:off x="1809136" y="1734463"/>
            <a:ext cx="7934633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uploads a presentation video.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and video are extracted and processed.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Whisper transcribes speech with word-level timestamps.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</a:t>
            </a: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extracts eye contact, posture, and gesture features.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engine detects mistakes with exact timestamps.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feedback engine explains mistakes and rewrites affected sentences.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classifier estimates speaker Confidence from extracted features.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displays the report and tracks progress across sessions.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95872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DC5C-CD6B-4831-6A9D-5DAC33EE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B75C-19D4-7CF0-6EDB-A980DB563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40980" y="444663"/>
            <a:ext cx="10363200" cy="492443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C47352D-B3A8-1A1F-8E3B-C52F8A76DF70}"/>
              </a:ext>
            </a:extLst>
          </p:cNvPr>
          <p:cNvSpPr/>
          <p:nvPr/>
        </p:nvSpPr>
        <p:spPr>
          <a:xfrm>
            <a:off x="4480560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67413B6-2ECD-9035-C664-EAD5088DF768}"/>
              </a:ext>
            </a:extLst>
          </p:cNvPr>
          <p:cNvSpPr/>
          <p:nvPr/>
        </p:nvSpPr>
        <p:spPr>
          <a:xfrm>
            <a:off x="452628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Uploaded Video (MP4 / AVI / MOV)</a:t>
            </a:r>
            <a:endParaRPr lang="en-US" sz="1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CC52F90-547C-FFEF-1482-FD935DC5B48D}"/>
              </a:ext>
            </a:extLst>
          </p:cNvPr>
          <p:cNvSpPr/>
          <p:nvPr/>
        </p:nvSpPr>
        <p:spPr>
          <a:xfrm>
            <a:off x="5925312" y="195681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D75B200-9F4D-0B45-DEFC-9AECFCA267CE}"/>
              </a:ext>
            </a:extLst>
          </p:cNvPr>
          <p:cNvSpPr/>
          <p:nvPr/>
        </p:nvSpPr>
        <p:spPr>
          <a:xfrm>
            <a:off x="4480560" y="219456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D9E2F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FDD234F-B8ED-BAA2-B13C-257BE777FB4D}"/>
              </a:ext>
            </a:extLst>
          </p:cNvPr>
          <p:cNvSpPr/>
          <p:nvPr/>
        </p:nvSpPr>
        <p:spPr>
          <a:xfrm>
            <a:off x="45262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&amp; Video Processing</a:t>
            </a:r>
            <a:endParaRPr lang="en-US" sz="12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2AE62AD-950A-ED1A-8F38-5095150219F2}"/>
              </a:ext>
            </a:extLst>
          </p:cNvPr>
          <p:cNvSpPr/>
          <p:nvPr/>
        </p:nvSpPr>
        <p:spPr>
          <a:xfrm>
            <a:off x="3474720" y="268833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66D4E35A-F284-635C-AE20-9555FF731B7A}"/>
              </a:ext>
            </a:extLst>
          </p:cNvPr>
          <p:cNvSpPr/>
          <p:nvPr/>
        </p:nvSpPr>
        <p:spPr>
          <a:xfrm>
            <a:off x="8321040" y="268833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13746E61-0CB2-B692-C889-246C6B2F9BC1}"/>
              </a:ext>
            </a:extLst>
          </p:cNvPr>
          <p:cNvSpPr/>
          <p:nvPr/>
        </p:nvSpPr>
        <p:spPr>
          <a:xfrm>
            <a:off x="1188720" y="29260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6BAD453-2278-5B3C-7C45-AAF25EC2A0E5}"/>
              </a:ext>
            </a:extLst>
          </p:cNvPr>
          <p:cNvSpPr/>
          <p:nvPr/>
        </p:nvSpPr>
        <p:spPr>
          <a:xfrm>
            <a:off x="123444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Whisper · Filler/WPM/Pause Detection</a:t>
            </a:r>
            <a:endParaRPr lang="en-US" sz="12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BD0351BE-07AC-60BF-132D-91661F71DBBD}"/>
              </a:ext>
            </a:extLst>
          </p:cNvPr>
          <p:cNvSpPr/>
          <p:nvPr/>
        </p:nvSpPr>
        <p:spPr>
          <a:xfrm>
            <a:off x="7040880" y="29260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5BF9F17-F412-6812-9B70-3F21F9E982B9}"/>
              </a:ext>
            </a:extLst>
          </p:cNvPr>
          <p:cNvSpPr/>
          <p:nvPr/>
        </p:nvSpPr>
        <p:spPr>
          <a:xfrm>
            <a:off x="7086600" y="2926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 (Face, Pose, Hands)</a:t>
            </a:r>
            <a:endParaRPr lang="en-US" sz="12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A5545A94-1FDF-7E2F-349B-A4DF1D9C9D29}"/>
              </a:ext>
            </a:extLst>
          </p:cNvPr>
          <p:cNvSpPr/>
          <p:nvPr/>
        </p:nvSpPr>
        <p:spPr>
          <a:xfrm>
            <a:off x="5925312" y="360273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90C9DE3-5687-0A82-BEA1-CE3E130BE080}"/>
              </a:ext>
            </a:extLst>
          </p:cNvPr>
          <p:cNvSpPr/>
          <p:nvPr/>
        </p:nvSpPr>
        <p:spPr>
          <a:xfrm>
            <a:off x="3108960" y="384048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2B13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B76DBA42-7CC2-3497-C1EC-257ADC14808E}"/>
              </a:ext>
            </a:extLst>
          </p:cNvPr>
          <p:cNvSpPr/>
          <p:nvPr/>
        </p:nvSpPr>
        <p:spPr>
          <a:xfrm>
            <a:off x="3154680" y="3840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Fusion (timestamp-aligned)</a:t>
            </a:r>
            <a:endParaRPr lang="en-US" sz="12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9919F5F-7EE7-A5BB-6608-2C06CB3720F5}"/>
              </a:ext>
            </a:extLst>
          </p:cNvPr>
          <p:cNvSpPr/>
          <p:nvPr/>
        </p:nvSpPr>
        <p:spPr>
          <a:xfrm>
            <a:off x="5925312" y="433425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D8B6C793-83B7-5103-6785-91D101931000}"/>
              </a:ext>
            </a:extLst>
          </p:cNvPr>
          <p:cNvSpPr/>
          <p:nvPr/>
        </p:nvSpPr>
        <p:spPr>
          <a:xfrm>
            <a:off x="3108960" y="457200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21FB7D9-5DBE-10BA-5244-A0897EFDC56F}"/>
              </a:ext>
            </a:extLst>
          </p:cNvPr>
          <p:cNvSpPr/>
          <p:nvPr/>
        </p:nvSpPr>
        <p:spPr>
          <a:xfrm>
            <a:off x="3154680" y="4572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Mistake Detection + Trained Confidence Model</a:t>
            </a:r>
            <a:endParaRPr lang="en-US" sz="12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A4D6D6AE-5BF2-B656-BDAB-FCD662084E6C}"/>
              </a:ext>
            </a:extLst>
          </p:cNvPr>
          <p:cNvSpPr/>
          <p:nvPr/>
        </p:nvSpPr>
        <p:spPr>
          <a:xfrm>
            <a:off x="5925312" y="5020056"/>
            <a:ext cx="457200" cy="201168"/>
          </a:xfrm>
          <a:prstGeom prst="downArrow">
            <a:avLst/>
          </a:prstGeom>
          <a:solidFill>
            <a:srgbClr val="1F3864"/>
          </a:solidFill>
          <a:ln/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13ED0A10-5E95-071D-0AA7-63F63496C07C}"/>
              </a:ext>
            </a:extLst>
          </p:cNvPr>
          <p:cNvSpPr/>
          <p:nvPr/>
        </p:nvSpPr>
        <p:spPr>
          <a:xfrm>
            <a:off x="3108960" y="525780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D9E2F3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CCCBB0AF-6E4C-146E-010D-17BB25AFBC3E}"/>
              </a:ext>
            </a:extLst>
          </p:cNvPr>
          <p:cNvSpPr/>
          <p:nvPr/>
        </p:nvSpPr>
        <p:spPr>
          <a:xfrm>
            <a:off x="3154680" y="5257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Feedback, Report &amp; Progress Dashboard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2955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64EB-A6D0-0B88-92E7-B58D29FF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>
            <a:extLst>
              <a:ext uri="{FF2B5EF4-FFF2-40B4-BE49-F238E27FC236}">
                <a16:creationId xmlns:a16="http://schemas.microsoft.com/office/drawing/2014/main" id="{E6ED7D03-936A-880F-D440-61ECD269C731}"/>
              </a:ext>
            </a:extLst>
          </p:cNvPr>
          <p:cNvSpPr/>
          <p:nvPr/>
        </p:nvSpPr>
        <p:spPr>
          <a:xfrm>
            <a:off x="1170432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32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A7C5594A-1A51-4D3A-FC5A-2D15609C114D}"/>
              </a:ext>
            </a:extLst>
          </p:cNvPr>
          <p:cNvSpPr/>
          <p:nvPr/>
        </p:nvSpPr>
        <p:spPr>
          <a:xfrm>
            <a:off x="1719072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Upload &amp; Processing</a:t>
            </a:r>
            <a:endParaRPr lang="en-US" sz="22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6AE5EAE-379D-867D-CA44-95EE117813FD}"/>
              </a:ext>
            </a:extLst>
          </p:cNvPr>
          <p:cNvSpPr/>
          <p:nvPr/>
        </p:nvSpPr>
        <p:spPr>
          <a:xfrm>
            <a:off x="1993392" y="221284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upload (MP4/AVI/MOV)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extraction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extraction</a:t>
            </a:r>
            <a:endParaRPr lang="en-US" sz="18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6CF1DF9C-7BCC-6A0D-8FFD-737B92332CEB}"/>
              </a:ext>
            </a:extLst>
          </p:cNvPr>
          <p:cNvSpPr/>
          <p:nvPr/>
        </p:nvSpPr>
        <p:spPr>
          <a:xfrm>
            <a:off x="1719072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Analysis</a:t>
            </a:r>
            <a:endParaRPr lang="en-US" sz="2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4E23933F-D76A-0239-20D0-C0C9C558D05F}"/>
              </a:ext>
            </a:extLst>
          </p:cNvPr>
          <p:cNvSpPr/>
          <p:nvPr/>
        </p:nvSpPr>
        <p:spPr>
          <a:xfrm>
            <a:off x="1993392" y="36301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Whisper transcription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Filler word &amp; WPM detection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Pause &amp; repetition detection</a:t>
            </a:r>
            <a:endParaRPr lang="en-US" sz="18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01175DAB-5695-06FD-2A62-18C7EFD01141}"/>
              </a:ext>
            </a:extLst>
          </p:cNvPr>
          <p:cNvSpPr/>
          <p:nvPr/>
        </p:nvSpPr>
        <p:spPr>
          <a:xfrm>
            <a:off x="1719072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Analysis</a:t>
            </a:r>
            <a:endParaRPr lang="en-US" sz="22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CCEC59F7-8517-D256-CF67-81C49DED3D61}"/>
              </a:ext>
            </a:extLst>
          </p:cNvPr>
          <p:cNvSpPr/>
          <p:nvPr/>
        </p:nvSpPr>
        <p:spPr>
          <a:xfrm>
            <a:off x="1993392" y="504748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Eye contact detection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Posture analysis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gesture tracking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327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D2E89-72A5-8B28-07B7-B3BDA170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1E9D79D8-D251-6DE0-A0EF-898FAD50FD84}"/>
              </a:ext>
            </a:extLst>
          </p:cNvPr>
          <p:cNvSpPr/>
          <p:nvPr/>
        </p:nvSpPr>
        <p:spPr>
          <a:xfrm>
            <a:off x="1170432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3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84367B38-FA81-EB67-A2D5-B667014C78C4}"/>
              </a:ext>
            </a:extLst>
          </p:cNvPr>
          <p:cNvSpPr/>
          <p:nvPr/>
        </p:nvSpPr>
        <p:spPr>
          <a:xfrm>
            <a:off x="1719072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Fusion &amp; Mistake Detection</a:t>
            </a:r>
            <a:endParaRPr lang="en-US" sz="22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24FDC00-FB03-67A2-2379-5A8BA266344E}"/>
              </a:ext>
            </a:extLst>
          </p:cNvPr>
          <p:cNvSpPr/>
          <p:nvPr/>
        </p:nvSpPr>
        <p:spPr>
          <a:xfrm>
            <a:off x="1993392" y="221284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Timestamp-aligned fusion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severity thresholds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Timestamped mistake log</a:t>
            </a:r>
            <a:endParaRPr lang="en-US" sz="18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5169678-BDB3-A01C-45B0-305A03A97ADC}"/>
              </a:ext>
            </a:extLst>
          </p:cNvPr>
          <p:cNvSpPr/>
          <p:nvPr/>
        </p:nvSpPr>
        <p:spPr>
          <a:xfrm>
            <a:off x="1719072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Feedback &amp; Confidence Engine</a:t>
            </a:r>
            <a:endParaRPr lang="en-US" sz="22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9CF6F9F3-33D2-694B-3329-B25CD62B0151}"/>
              </a:ext>
            </a:extLst>
          </p:cNvPr>
          <p:cNvSpPr/>
          <p:nvPr/>
        </p:nvSpPr>
        <p:spPr>
          <a:xfrm>
            <a:off x="1993392" y="36301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Fluent sentence rewriting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Confidence classifier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SHAP-based explainability</a:t>
            </a:r>
            <a:endParaRPr lang="en-US" sz="18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8B52443-F577-141C-EBBF-B9FD8023CE66}"/>
              </a:ext>
            </a:extLst>
          </p:cNvPr>
          <p:cNvSpPr/>
          <p:nvPr/>
        </p:nvSpPr>
        <p:spPr>
          <a:xfrm>
            <a:off x="1719072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6  </a:t>
            </a: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&amp; Progress Dashboard</a:t>
            </a:r>
            <a:endParaRPr lang="en-US" sz="22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F23CDB6A-77B2-4AAC-09F5-1B2C5B7DA452}"/>
              </a:ext>
            </a:extLst>
          </p:cNvPr>
          <p:cNvSpPr/>
          <p:nvPr/>
        </p:nvSpPr>
        <p:spPr>
          <a:xfrm>
            <a:off x="1993392" y="504748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performance scoring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generation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Session-over-session tracking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83032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2349-B7DD-9878-C6D3-8BBC3B0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86B41DC9-4787-4867-E63F-413C2EBA4097}"/>
              </a:ext>
            </a:extLst>
          </p:cNvPr>
          <p:cNvSpPr/>
          <p:nvPr/>
        </p:nvSpPr>
        <p:spPr>
          <a:xfrm>
            <a:off x="1142543" y="777240"/>
            <a:ext cx="13387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7C8ED23-849B-84E3-F012-921186E1D800}"/>
              </a:ext>
            </a:extLst>
          </p:cNvPr>
          <p:cNvSpPr/>
          <p:nvPr/>
        </p:nvSpPr>
        <p:spPr>
          <a:xfrm>
            <a:off x="1142543" y="1463040"/>
            <a:ext cx="12060022" cy="496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Video upload module with format/size validation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Audio extraction (FFmpeg) and frame extraction (OpenCV)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Speech Analysis: Whisper transcription, filler word detection (context-aware), WPM, pause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Visual Analysis: MediaPipe-based eye contact, posture, and gesture extraction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Confidence/detection accuracy metrics captured for both speech and visual modalities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MongoDB integration for session storage and status tracking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Confidence classifier training in progress using the Kaggle Confidence Detection Dataset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Model: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trained on the Kaggle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Group-aware validation accuracy: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corrected for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from correlated video frames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 added - top feature: wrist-to-shoulder ratio(open/closed arm posture)</a:t>
            </a:r>
          </a:p>
        </p:txBody>
      </p:sp>
    </p:spTree>
    <p:extLst>
      <p:ext uri="{BB962C8B-B14F-4D97-AF65-F5344CB8AC3E}">
        <p14:creationId xmlns:p14="http://schemas.microsoft.com/office/powerpoint/2010/main" val="301951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ECD4-EEDD-A156-0D4E-7DF14C271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25213" y="741752"/>
            <a:ext cx="10363200" cy="492443"/>
          </a:xfrm>
        </p:spPr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4B5E8-A87D-701F-A22D-B8B14E6E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030" y="1593154"/>
            <a:ext cx="8937523" cy="3323987"/>
          </a:xfrm>
        </p:spPr>
        <p:txBody>
          <a:bodyPr/>
          <a:lstStyle/>
          <a:p>
            <a:pPr marL="0" indent="0" algn="ctr"/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</a:t>
            </a:r>
            <a:r>
              <a:rPr lang="en-US" sz="24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SmartSpeak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system leverages pretrained speech and vision models, explainable rule-based mistake detection, and a purpose-trained Confidence classifier to provide specific, timestamped, and actionable feedback on public speaking performance. Unlike prior systems that rely on abstract scoring or specialized hardware, </a:t>
            </a:r>
            <a:r>
              <a:rPr lang="en-US" sz="24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SmartSpeak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operates on an ordinary uploaded video and requires no custom training data beyond a single, well-scoped Confidence model. The system aims to deliver an explainable, reproducible, and personally adaptive public speaking coach for students and professionals alike.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681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7B6DDF-86FB-1181-E3A4-3E249F200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3406" y="2491249"/>
            <a:ext cx="7897789" cy="1015663"/>
          </a:xfrm>
        </p:spPr>
        <p:txBody>
          <a:bodyPr/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68048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998</Words>
  <Application>Microsoft Office PowerPoint</Application>
  <PresentationFormat>Widescreen</PresentationFormat>
  <Paragraphs>128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AI-Powered Public Speaking Analysis and Feedback System</vt:lpstr>
      <vt:lpstr>PowerPoint Presentation</vt:lpstr>
      <vt:lpstr>Objectives</vt:lpstr>
      <vt:lpstr>Literature Survey</vt:lpstr>
      <vt:lpstr>Existing Problems</vt:lpstr>
      <vt:lpstr>Research Gap</vt:lpstr>
      <vt:lpstr>Proposed System</vt:lpstr>
      <vt:lpstr>Architecture Diagram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subramani</cp:lastModifiedBy>
  <cp:revision>20</cp:revision>
  <dcterms:modified xsi:type="dcterms:W3CDTF">2026-08-04T01:12:51Z</dcterms:modified>
</cp:coreProperties>
</file>